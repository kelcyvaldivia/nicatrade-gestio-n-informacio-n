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Poppins" pitchFamily="2" charset="0"/>
      <p:regular r:id="rId6"/>
    </p:embeddedFont>
    <p:embeddedFont>
      <p:font typeface="Poppins Bold" pitchFamily="2" charset="0"/>
      <p:regular r:id="rId7"/>
    </p:embeddedFont>
    <p:embeddedFont>
      <p:font typeface="Poppins Medium" pitchFamily="2" charset="0"/>
      <p:regular r:id="rId8"/>
    </p:embeddedFont>
    <p:embeddedFont>
      <p:font typeface="Poppins Semi-Bold" pitchFamily="2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font" Target="fonts/font2.fntdata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font" Target="fonts/font1.fntdata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font" Target="fonts/font4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13" Type="http://schemas.openxmlformats.org/officeDocument/2006/relationships/image" Target="../media/image12.svg" /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12" Type="http://schemas.openxmlformats.org/officeDocument/2006/relationships/image" Target="../media/image11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11" Type="http://schemas.openxmlformats.org/officeDocument/2006/relationships/image" Target="../media/image10.png" /><Relationship Id="rId5" Type="http://schemas.openxmlformats.org/officeDocument/2006/relationships/image" Target="../media/image4.png" /><Relationship Id="rId10" Type="http://schemas.openxmlformats.org/officeDocument/2006/relationships/image" Target="../media/image9.png" /><Relationship Id="rId4" Type="http://schemas.openxmlformats.org/officeDocument/2006/relationships/image" Target="../media/image3.png" /><Relationship Id="rId9" Type="http://schemas.openxmlformats.org/officeDocument/2006/relationships/image" Target="../media/image8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 /><Relationship Id="rId13" Type="http://schemas.openxmlformats.org/officeDocument/2006/relationships/image" Target="../media/image24.png" /><Relationship Id="rId18" Type="http://schemas.openxmlformats.org/officeDocument/2006/relationships/image" Target="../media/image29.png" /><Relationship Id="rId26" Type="http://schemas.openxmlformats.org/officeDocument/2006/relationships/image" Target="../media/image37.png" /><Relationship Id="rId3" Type="http://schemas.openxmlformats.org/officeDocument/2006/relationships/image" Target="../media/image14.png" /><Relationship Id="rId21" Type="http://schemas.openxmlformats.org/officeDocument/2006/relationships/image" Target="../media/image32.png" /><Relationship Id="rId7" Type="http://schemas.openxmlformats.org/officeDocument/2006/relationships/image" Target="../media/image18.png" /><Relationship Id="rId12" Type="http://schemas.openxmlformats.org/officeDocument/2006/relationships/image" Target="../media/image23.png" /><Relationship Id="rId17" Type="http://schemas.openxmlformats.org/officeDocument/2006/relationships/image" Target="../media/image28.png" /><Relationship Id="rId25" Type="http://schemas.openxmlformats.org/officeDocument/2006/relationships/image" Target="../media/image36.png" /><Relationship Id="rId2" Type="http://schemas.openxmlformats.org/officeDocument/2006/relationships/image" Target="../media/image13.png" /><Relationship Id="rId16" Type="http://schemas.openxmlformats.org/officeDocument/2006/relationships/image" Target="../media/image27.png" /><Relationship Id="rId20" Type="http://schemas.openxmlformats.org/officeDocument/2006/relationships/image" Target="../media/image31.png" /><Relationship Id="rId29" Type="http://schemas.openxmlformats.org/officeDocument/2006/relationships/image" Target="../media/image4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7.png" /><Relationship Id="rId11" Type="http://schemas.openxmlformats.org/officeDocument/2006/relationships/image" Target="../media/image22.png" /><Relationship Id="rId24" Type="http://schemas.openxmlformats.org/officeDocument/2006/relationships/image" Target="../media/image35.png" /><Relationship Id="rId5" Type="http://schemas.openxmlformats.org/officeDocument/2006/relationships/image" Target="../media/image16.png" /><Relationship Id="rId15" Type="http://schemas.openxmlformats.org/officeDocument/2006/relationships/image" Target="../media/image26.png" /><Relationship Id="rId23" Type="http://schemas.openxmlformats.org/officeDocument/2006/relationships/image" Target="../media/image34.png" /><Relationship Id="rId28" Type="http://schemas.openxmlformats.org/officeDocument/2006/relationships/image" Target="../media/image39.png" /><Relationship Id="rId10" Type="http://schemas.openxmlformats.org/officeDocument/2006/relationships/image" Target="../media/image21.png" /><Relationship Id="rId19" Type="http://schemas.openxmlformats.org/officeDocument/2006/relationships/image" Target="../media/image30.png" /><Relationship Id="rId31" Type="http://schemas.openxmlformats.org/officeDocument/2006/relationships/image" Target="../media/image42.png" /><Relationship Id="rId4" Type="http://schemas.openxmlformats.org/officeDocument/2006/relationships/image" Target="../media/image15.png" /><Relationship Id="rId9" Type="http://schemas.openxmlformats.org/officeDocument/2006/relationships/image" Target="../media/image20.png" /><Relationship Id="rId14" Type="http://schemas.openxmlformats.org/officeDocument/2006/relationships/image" Target="../media/image25.png" /><Relationship Id="rId22" Type="http://schemas.openxmlformats.org/officeDocument/2006/relationships/image" Target="../media/image33.png" /><Relationship Id="rId27" Type="http://schemas.openxmlformats.org/officeDocument/2006/relationships/image" Target="../media/image38.png" /><Relationship Id="rId30" Type="http://schemas.openxmlformats.org/officeDocument/2006/relationships/image" Target="../media/image41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 /><Relationship Id="rId3" Type="http://schemas.openxmlformats.org/officeDocument/2006/relationships/image" Target="../media/image44.png" /><Relationship Id="rId7" Type="http://schemas.openxmlformats.org/officeDocument/2006/relationships/image" Target="../media/image48.png" /><Relationship Id="rId12" Type="http://schemas.openxmlformats.org/officeDocument/2006/relationships/image" Target="../media/image53.png" /><Relationship Id="rId2" Type="http://schemas.openxmlformats.org/officeDocument/2006/relationships/image" Target="../media/image43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7.png" /><Relationship Id="rId11" Type="http://schemas.openxmlformats.org/officeDocument/2006/relationships/image" Target="../media/image52.png" /><Relationship Id="rId5" Type="http://schemas.openxmlformats.org/officeDocument/2006/relationships/image" Target="../media/image46.png" /><Relationship Id="rId10" Type="http://schemas.openxmlformats.org/officeDocument/2006/relationships/image" Target="../media/image51.png" /><Relationship Id="rId4" Type="http://schemas.openxmlformats.org/officeDocument/2006/relationships/image" Target="../media/image45.png" /><Relationship Id="rId9" Type="http://schemas.openxmlformats.org/officeDocument/2006/relationships/image" Target="../media/image50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 /><Relationship Id="rId3" Type="http://schemas.openxmlformats.org/officeDocument/2006/relationships/image" Target="../media/image55.png" /><Relationship Id="rId7" Type="http://schemas.openxmlformats.org/officeDocument/2006/relationships/image" Target="../media/image59.png" /><Relationship Id="rId12" Type="http://schemas.openxmlformats.org/officeDocument/2006/relationships/image" Target="../media/image64.png" /><Relationship Id="rId2" Type="http://schemas.openxmlformats.org/officeDocument/2006/relationships/image" Target="../media/image54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8.png" /><Relationship Id="rId11" Type="http://schemas.openxmlformats.org/officeDocument/2006/relationships/image" Target="../media/image63.png" /><Relationship Id="rId5" Type="http://schemas.openxmlformats.org/officeDocument/2006/relationships/image" Target="../media/image57.png" /><Relationship Id="rId10" Type="http://schemas.openxmlformats.org/officeDocument/2006/relationships/image" Target="../media/image62.png" /><Relationship Id="rId4" Type="http://schemas.openxmlformats.org/officeDocument/2006/relationships/image" Target="../media/image56.png" /><Relationship Id="rId9" Type="http://schemas.openxmlformats.org/officeDocument/2006/relationships/image" Target="../media/image6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968804" cy="10287000"/>
          </a:xfrm>
          <a:custGeom>
            <a:avLst/>
            <a:gdLst/>
            <a:ahLst/>
            <a:cxnLst/>
            <a:rect l="l" t="t" r="r" b="b"/>
            <a:pathLst>
              <a:path w="1968804" h="10287000">
                <a:moveTo>
                  <a:pt x="0" y="0"/>
                </a:moveTo>
                <a:lnTo>
                  <a:pt x="1968804" y="0"/>
                </a:lnTo>
                <a:lnTo>
                  <a:pt x="19688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6209369"/>
            <a:ext cx="2832890" cy="4077631"/>
          </a:xfrm>
          <a:custGeom>
            <a:avLst/>
            <a:gdLst/>
            <a:ahLst/>
            <a:cxnLst/>
            <a:rect l="l" t="t" r="r" b="b"/>
            <a:pathLst>
              <a:path w="2832890" h="4077631">
                <a:moveTo>
                  <a:pt x="0" y="0"/>
                </a:moveTo>
                <a:lnTo>
                  <a:pt x="2832890" y="0"/>
                </a:lnTo>
                <a:lnTo>
                  <a:pt x="283289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570574" y="0"/>
            <a:ext cx="8717426" cy="5367606"/>
          </a:xfrm>
          <a:custGeom>
            <a:avLst/>
            <a:gdLst/>
            <a:ahLst/>
            <a:cxnLst/>
            <a:rect l="l" t="t" r="r" b="b"/>
            <a:pathLst>
              <a:path w="8717426" h="5367606">
                <a:moveTo>
                  <a:pt x="0" y="0"/>
                </a:moveTo>
                <a:lnTo>
                  <a:pt x="8717426" y="0"/>
                </a:lnTo>
                <a:lnTo>
                  <a:pt x="8717426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747196" y="1924030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017598" y="4066699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76622" y="3848060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176622" y="5138034"/>
            <a:ext cx="6759560" cy="1082267"/>
          </a:xfrm>
          <a:custGeom>
            <a:avLst/>
            <a:gdLst/>
            <a:ahLst/>
            <a:cxnLst/>
            <a:rect l="l" t="t" r="r" b="b"/>
            <a:pathLst>
              <a:path w="6759560" h="1082267">
                <a:moveTo>
                  <a:pt x="0" y="0"/>
                </a:moveTo>
                <a:lnTo>
                  <a:pt x="6759560" y="0"/>
                </a:lnTo>
                <a:lnTo>
                  <a:pt x="675956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831464" y="4711687"/>
            <a:ext cx="8936182" cy="5148966"/>
          </a:xfrm>
          <a:custGeom>
            <a:avLst/>
            <a:gdLst/>
            <a:ahLst/>
            <a:cxnLst/>
            <a:rect l="l" t="t" r="r" b="b"/>
            <a:pathLst>
              <a:path w="8936182" h="5148966">
                <a:moveTo>
                  <a:pt x="0" y="0"/>
                </a:moveTo>
                <a:lnTo>
                  <a:pt x="8936182" y="0"/>
                </a:lnTo>
                <a:lnTo>
                  <a:pt x="8936182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580086" y="6635716"/>
            <a:ext cx="3707914" cy="3651284"/>
          </a:xfrm>
          <a:custGeom>
            <a:avLst/>
            <a:gdLst/>
            <a:ahLst/>
            <a:cxnLst/>
            <a:rect l="l" t="t" r="r" b="b"/>
            <a:pathLst>
              <a:path w="3707914" h="3651284">
                <a:moveTo>
                  <a:pt x="0" y="0"/>
                </a:moveTo>
                <a:lnTo>
                  <a:pt x="3707914" y="0"/>
                </a:lnTo>
                <a:lnTo>
                  <a:pt x="3707914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40708" y="6854356"/>
            <a:ext cx="5020450" cy="3006296"/>
          </a:xfrm>
          <a:custGeom>
            <a:avLst/>
            <a:gdLst/>
            <a:ahLst/>
            <a:cxnLst/>
            <a:rect l="l" t="t" r="r" b="b"/>
            <a:pathLst>
              <a:path w="5020450" h="3006296">
                <a:moveTo>
                  <a:pt x="0" y="0"/>
                </a:moveTo>
                <a:lnTo>
                  <a:pt x="5020450" y="0"/>
                </a:lnTo>
                <a:lnTo>
                  <a:pt x="5020450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612578" y="5562513"/>
            <a:ext cx="833245" cy="233308"/>
          </a:xfrm>
          <a:custGeom>
            <a:avLst/>
            <a:gdLst/>
            <a:ahLst/>
            <a:cxnLst/>
            <a:rect l="l" t="t" r="r" b="b"/>
            <a:pathLst>
              <a:path w="833245" h="233308">
                <a:moveTo>
                  <a:pt x="0" y="0"/>
                </a:moveTo>
                <a:lnTo>
                  <a:pt x="833244" y="0"/>
                </a:lnTo>
                <a:lnTo>
                  <a:pt x="833244" y="233309"/>
                </a:lnTo>
                <a:lnTo>
                  <a:pt x="0" y="2333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340864" y="1522273"/>
            <a:ext cx="6693408" cy="212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0"/>
              </a:lnSpc>
            </a:pPr>
            <a:r>
              <a:rPr lang="en-US" sz="8103" b="1" spc="-162">
                <a:solidFill>
                  <a:srgbClr val="2E1F53"/>
                </a:solidFill>
                <a:latin typeface="Poppins Bold"/>
                <a:ea typeface="Poppins Bold"/>
                <a:cs typeface="Poppins Bold"/>
                <a:sym typeface="Poppins Bold"/>
              </a:rPr>
              <a:t>NicaTrade International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40864" y="4457272"/>
            <a:ext cx="4992624" cy="423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3062" b="1" spc="-61">
                <a:solidFill>
                  <a:srgbClr val="2E1F5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Operación de importación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74720" y="7308964"/>
            <a:ext cx="2076213" cy="35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7"/>
              </a:lnSpc>
            </a:pPr>
            <a:r>
              <a:rPr lang="en-US" sz="2584" b="1" spc="-51">
                <a:solidFill>
                  <a:srgbClr val="2E1F5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Integrantes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96896" y="5417400"/>
            <a:ext cx="1865376" cy="590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2"/>
              </a:lnSpc>
            </a:pPr>
            <a:r>
              <a:rPr lang="en-US" sz="4249" b="1" spc="-84">
                <a:solidFill>
                  <a:srgbClr val="F6F6E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México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96128" y="5417400"/>
            <a:ext cx="2798064" cy="590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2"/>
              </a:lnSpc>
            </a:pPr>
            <a:r>
              <a:rPr lang="en-US" sz="4249" b="1" spc="-84">
                <a:solidFill>
                  <a:srgbClr val="F6F6E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Nicaragua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62393" y="7784509"/>
            <a:ext cx="3438168" cy="88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245" lvl="1" indent="-266622" algn="l">
              <a:lnSpc>
                <a:spcPts val="3457"/>
              </a:lnSpc>
              <a:buFont typeface="Arial"/>
              <a:buChar char="•"/>
            </a:pPr>
            <a:r>
              <a:rPr lang="en-US" sz="2469">
                <a:solidFill>
                  <a:srgbClr val="332C50"/>
                </a:solidFill>
                <a:latin typeface="Poppins"/>
                <a:ea typeface="Poppins"/>
                <a:cs typeface="Poppins"/>
                <a:sym typeface="Poppins"/>
              </a:rPr>
              <a:t>Christyam Vargas.</a:t>
            </a:r>
          </a:p>
          <a:p>
            <a:pPr marL="533245" lvl="1" indent="-266622" algn="l">
              <a:lnSpc>
                <a:spcPts val="3457"/>
              </a:lnSpc>
              <a:buFont typeface="Arial"/>
              <a:buChar char="•"/>
            </a:pPr>
            <a:r>
              <a:rPr lang="en-US" sz="2469">
                <a:solidFill>
                  <a:srgbClr val="332C50"/>
                </a:solidFill>
                <a:latin typeface="Poppins"/>
                <a:ea typeface="Poppins"/>
                <a:cs typeface="Poppins"/>
                <a:sym typeface="Poppins"/>
              </a:rPr>
              <a:t>kelcy valdivia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2187560" cy="6646648"/>
          </a:xfrm>
          <a:custGeom>
            <a:avLst/>
            <a:gdLst/>
            <a:ahLst/>
            <a:cxnLst/>
            <a:rect l="l" t="t" r="r" b="b"/>
            <a:pathLst>
              <a:path w="2187560" h="6646648">
                <a:moveTo>
                  <a:pt x="0" y="0"/>
                </a:moveTo>
                <a:lnTo>
                  <a:pt x="2187560" y="0"/>
                </a:lnTo>
                <a:lnTo>
                  <a:pt x="2187560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6428009"/>
            <a:ext cx="9362756" cy="3858991"/>
          </a:xfrm>
          <a:custGeom>
            <a:avLst/>
            <a:gdLst/>
            <a:ahLst/>
            <a:cxnLst/>
            <a:rect l="l" t="t" r="r" b="b"/>
            <a:pathLst>
              <a:path w="9362756" h="3858991">
                <a:moveTo>
                  <a:pt x="0" y="0"/>
                </a:moveTo>
                <a:lnTo>
                  <a:pt x="9362756" y="0"/>
                </a:lnTo>
                <a:lnTo>
                  <a:pt x="9362756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6209369"/>
            <a:ext cx="2832890" cy="4077631"/>
          </a:xfrm>
          <a:custGeom>
            <a:avLst/>
            <a:gdLst/>
            <a:ahLst/>
            <a:cxnLst/>
            <a:rect l="l" t="t" r="r" b="b"/>
            <a:pathLst>
              <a:path w="2832890" h="4077631">
                <a:moveTo>
                  <a:pt x="0" y="0"/>
                </a:moveTo>
                <a:lnTo>
                  <a:pt x="2832890" y="0"/>
                </a:lnTo>
                <a:lnTo>
                  <a:pt x="283289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62656" y="601516"/>
            <a:ext cx="4498848" cy="1724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6"/>
              </a:lnSpc>
            </a:pPr>
            <a:r>
              <a:rPr lang="en-US" sz="6436" b="1" spc="-193">
                <a:solidFill>
                  <a:srgbClr val="33225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Empresa y operación</a:t>
            </a:r>
          </a:p>
        </p:txBody>
      </p:sp>
      <p:sp>
        <p:nvSpPr>
          <p:cNvPr id="7" name="Freeform 7"/>
          <p:cNvSpPr/>
          <p:nvPr/>
        </p:nvSpPr>
        <p:spPr>
          <a:xfrm>
            <a:off x="2821952" y="2350377"/>
            <a:ext cx="1104718" cy="229572"/>
          </a:xfrm>
          <a:custGeom>
            <a:avLst/>
            <a:gdLst/>
            <a:ahLst/>
            <a:cxnLst/>
            <a:rect l="l" t="t" r="r" b="b"/>
            <a:pathLst>
              <a:path w="1104718" h="229572">
                <a:moveTo>
                  <a:pt x="0" y="0"/>
                </a:moveTo>
                <a:lnTo>
                  <a:pt x="1104718" y="0"/>
                </a:lnTo>
                <a:lnTo>
                  <a:pt x="1104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962656" y="2706015"/>
            <a:ext cx="5596128" cy="110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857" b="1">
                <a:solidFill>
                  <a:srgbClr val="33225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NicaTrade International realiza la importación de productos de consumo desde México hacia Nicaragua.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62656" y="4712064"/>
            <a:ext cx="4238244" cy="159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92">
                <a:solidFill>
                  <a:srgbClr val="332257"/>
                </a:solidFill>
                <a:latin typeface="Poppins"/>
                <a:ea typeface="Poppins"/>
                <a:cs typeface="Poppins"/>
                <a:sym typeface="Poppins"/>
              </a:rPr>
              <a:t>clasificados en 7 categorías.</a:t>
            </a:r>
          </a:p>
          <a:p>
            <a:pPr algn="l">
              <a:lnSpc>
                <a:spcPts val="3187"/>
              </a:lnSpc>
            </a:pPr>
            <a:r>
              <a:rPr lang="en-US" sz="1992">
                <a:solidFill>
                  <a:srgbClr val="332257"/>
                </a:solidFill>
                <a:latin typeface="Poppins"/>
                <a:ea typeface="Poppins"/>
                <a:cs typeface="Poppins"/>
                <a:sym typeface="Poppins"/>
              </a:rPr>
              <a:t>La mayoría proceden de México, con algunos de Guatemala, Costa Rica y El Salvador.</a:t>
            </a:r>
          </a:p>
        </p:txBody>
      </p:sp>
      <p:sp>
        <p:nvSpPr>
          <p:cNvPr id="10" name="Freeform 10"/>
          <p:cNvSpPr/>
          <p:nvPr/>
        </p:nvSpPr>
        <p:spPr>
          <a:xfrm>
            <a:off x="2821952" y="8133399"/>
            <a:ext cx="6114230" cy="229572"/>
          </a:xfrm>
          <a:custGeom>
            <a:avLst/>
            <a:gdLst/>
            <a:ahLst/>
            <a:cxnLst/>
            <a:rect l="l" t="t" r="r" b="b"/>
            <a:pathLst>
              <a:path w="6114230" h="229572">
                <a:moveTo>
                  <a:pt x="0" y="0"/>
                </a:moveTo>
                <a:lnTo>
                  <a:pt x="6114230" y="0"/>
                </a:lnTo>
                <a:lnTo>
                  <a:pt x="611423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962656" y="8443211"/>
            <a:ext cx="2468880" cy="34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1881" b="1">
                <a:solidFill>
                  <a:srgbClr val="E1D8E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Otras categorías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62656" y="8870729"/>
            <a:ext cx="5907024" cy="88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1577">
                <a:solidFill>
                  <a:srgbClr val="E1D8E8"/>
                </a:solidFill>
                <a:latin typeface="Poppins"/>
                <a:ea typeface="Poppins"/>
                <a:cs typeface="Poppins"/>
                <a:sym typeface="Poppins"/>
              </a:rPr>
              <a:t>bebidas; productos de limpieza y hogar; artículos de oficina y tecnología; accesorios como mochilas, bolsos, gorras, paraguas, lentes, botellas, termos y organizadores.</a:t>
            </a:r>
          </a:p>
        </p:txBody>
      </p:sp>
      <p:sp>
        <p:nvSpPr>
          <p:cNvPr id="13" name="Freeform 13"/>
          <p:cNvSpPr/>
          <p:nvPr/>
        </p:nvSpPr>
        <p:spPr>
          <a:xfrm>
            <a:off x="9144000" y="634055"/>
            <a:ext cx="2187560" cy="2372241"/>
          </a:xfrm>
          <a:custGeom>
            <a:avLst/>
            <a:gdLst/>
            <a:ahLst/>
            <a:cxnLst/>
            <a:rect l="l" t="t" r="r" b="b"/>
            <a:pathLst>
              <a:path w="2187560" h="2372241">
                <a:moveTo>
                  <a:pt x="0" y="0"/>
                </a:moveTo>
                <a:lnTo>
                  <a:pt x="2187560" y="0"/>
                </a:lnTo>
                <a:lnTo>
                  <a:pt x="218756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789330" y="1071335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674352" y="2289247"/>
            <a:ext cx="1261872" cy="29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606" b="1">
                <a:solidFill>
                  <a:srgbClr val="33225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ALIMENTOS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320622" y="634055"/>
            <a:ext cx="2187560" cy="2372241"/>
          </a:xfrm>
          <a:custGeom>
            <a:avLst/>
            <a:gdLst/>
            <a:ahLst/>
            <a:cxnLst/>
            <a:rect l="l" t="t" r="r" b="b"/>
            <a:pathLst>
              <a:path w="2187560" h="2372241">
                <a:moveTo>
                  <a:pt x="0" y="0"/>
                </a:moveTo>
                <a:lnTo>
                  <a:pt x="2187560" y="0"/>
                </a:lnTo>
                <a:lnTo>
                  <a:pt x="218756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965952" y="1071335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1960352" y="2289247"/>
            <a:ext cx="932688" cy="29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606" b="1">
                <a:solidFill>
                  <a:srgbClr val="33225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BEBIDAS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497244" y="634055"/>
            <a:ext cx="2187560" cy="2372241"/>
          </a:xfrm>
          <a:custGeom>
            <a:avLst/>
            <a:gdLst/>
            <a:ahLst/>
            <a:cxnLst/>
            <a:rect l="l" t="t" r="r" b="b"/>
            <a:pathLst>
              <a:path w="2187560" h="2372241">
                <a:moveTo>
                  <a:pt x="0" y="0"/>
                </a:moveTo>
                <a:lnTo>
                  <a:pt x="2187560" y="0"/>
                </a:lnTo>
                <a:lnTo>
                  <a:pt x="218756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923818" y="1071335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4045184" y="2289247"/>
            <a:ext cx="987552" cy="29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606" b="1">
                <a:solidFill>
                  <a:srgbClr val="33225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LIMPIEZA</a:t>
            </a:r>
          </a:p>
        </p:txBody>
      </p:sp>
      <p:sp>
        <p:nvSpPr>
          <p:cNvPr id="22" name="Freeform 22"/>
          <p:cNvSpPr/>
          <p:nvPr/>
        </p:nvSpPr>
        <p:spPr>
          <a:xfrm>
            <a:off x="15455110" y="634055"/>
            <a:ext cx="2187560" cy="2372241"/>
          </a:xfrm>
          <a:custGeom>
            <a:avLst/>
            <a:gdLst/>
            <a:ahLst/>
            <a:cxnLst/>
            <a:rect l="l" t="t" r="r" b="b"/>
            <a:pathLst>
              <a:path w="2187560" h="2372241">
                <a:moveTo>
                  <a:pt x="0" y="0"/>
                </a:moveTo>
                <a:lnTo>
                  <a:pt x="2187560" y="0"/>
                </a:lnTo>
                <a:lnTo>
                  <a:pt x="218756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100440" y="1071335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6258032" y="2289247"/>
            <a:ext cx="822960" cy="29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606" b="1">
                <a:solidFill>
                  <a:srgbClr val="33225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HOGAR</a:t>
            </a:r>
          </a:p>
        </p:txBody>
      </p:sp>
      <p:sp>
        <p:nvSpPr>
          <p:cNvPr id="25" name="Freeform 25"/>
          <p:cNvSpPr/>
          <p:nvPr/>
        </p:nvSpPr>
        <p:spPr>
          <a:xfrm>
            <a:off x="9144000" y="2995365"/>
            <a:ext cx="2832890" cy="2153601"/>
          </a:xfrm>
          <a:custGeom>
            <a:avLst/>
            <a:gdLst/>
            <a:ahLst/>
            <a:cxnLst/>
            <a:rect l="l" t="t" r="r" b="b"/>
            <a:pathLst>
              <a:path w="2832890" h="2153601">
                <a:moveTo>
                  <a:pt x="0" y="0"/>
                </a:moveTo>
                <a:lnTo>
                  <a:pt x="2832890" y="0"/>
                </a:lnTo>
                <a:lnTo>
                  <a:pt x="283289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008086" y="3421712"/>
            <a:ext cx="1104718" cy="874559"/>
          </a:xfrm>
          <a:custGeom>
            <a:avLst/>
            <a:gdLst/>
            <a:ahLst/>
            <a:cxnLst/>
            <a:rect l="l" t="t" r="r" b="b"/>
            <a:pathLst>
              <a:path w="1104718" h="874559">
                <a:moveTo>
                  <a:pt x="0" y="0"/>
                </a:moveTo>
                <a:lnTo>
                  <a:pt x="1104718" y="0"/>
                </a:lnTo>
                <a:lnTo>
                  <a:pt x="110471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0186416" y="4459804"/>
            <a:ext cx="896112" cy="29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606" b="1">
                <a:solidFill>
                  <a:srgbClr val="33225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OFICINA</a:t>
            </a:r>
          </a:p>
        </p:txBody>
      </p:sp>
      <p:sp>
        <p:nvSpPr>
          <p:cNvPr id="28" name="Freeform 28"/>
          <p:cNvSpPr/>
          <p:nvPr/>
        </p:nvSpPr>
        <p:spPr>
          <a:xfrm>
            <a:off x="11965952" y="2995365"/>
            <a:ext cx="2625072" cy="2153601"/>
          </a:xfrm>
          <a:custGeom>
            <a:avLst/>
            <a:gdLst/>
            <a:ahLst/>
            <a:cxnLst/>
            <a:rect l="l" t="t" r="r" b="b"/>
            <a:pathLst>
              <a:path w="2625072" h="2153601">
                <a:moveTo>
                  <a:pt x="0" y="0"/>
                </a:moveTo>
                <a:lnTo>
                  <a:pt x="2625072" y="0"/>
                </a:lnTo>
                <a:lnTo>
                  <a:pt x="262507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2622220" y="3421712"/>
            <a:ext cx="1312536" cy="874559"/>
          </a:xfrm>
          <a:custGeom>
            <a:avLst/>
            <a:gdLst/>
            <a:ahLst/>
            <a:cxnLst/>
            <a:rect l="l" t="t" r="r" b="b"/>
            <a:pathLst>
              <a:path w="1312536" h="874559">
                <a:moveTo>
                  <a:pt x="0" y="0"/>
                </a:moveTo>
                <a:lnTo>
                  <a:pt x="1312536" y="0"/>
                </a:lnTo>
                <a:lnTo>
                  <a:pt x="131253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2527280" y="4459804"/>
            <a:ext cx="1426464" cy="29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606" b="1">
                <a:solidFill>
                  <a:srgbClr val="33225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TECNOLOGÍA</a:t>
            </a:r>
          </a:p>
        </p:txBody>
      </p:sp>
      <p:sp>
        <p:nvSpPr>
          <p:cNvPr id="31" name="Freeform 31"/>
          <p:cNvSpPr/>
          <p:nvPr/>
        </p:nvSpPr>
        <p:spPr>
          <a:xfrm>
            <a:off x="14580086" y="2995365"/>
            <a:ext cx="2406316" cy="2153601"/>
          </a:xfrm>
          <a:custGeom>
            <a:avLst/>
            <a:gdLst/>
            <a:ahLst/>
            <a:cxnLst/>
            <a:rect l="l" t="t" r="r" b="b"/>
            <a:pathLst>
              <a:path w="2406316" h="2153601">
                <a:moveTo>
                  <a:pt x="0" y="0"/>
                </a:moveTo>
                <a:lnTo>
                  <a:pt x="2406316" y="0"/>
                </a:lnTo>
                <a:lnTo>
                  <a:pt x="240631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5236354" y="3214004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5087600" y="4459804"/>
            <a:ext cx="1389888" cy="29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606" b="1">
                <a:solidFill>
                  <a:srgbClr val="33225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ACCESORIOS</a:t>
            </a:r>
          </a:p>
        </p:txBody>
      </p:sp>
      <p:sp>
        <p:nvSpPr>
          <p:cNvPr id="34" name="Freeform 34"/>
          <p:cNvSpPr/>
          <p:nvPr/>
        </p:nvSpPr>
        <p:spPr>
          <a:xfrm>
            <a:off x="9144000" y="5138034"/>
            <a:ext cx="9144000" cy="5148966"/>
          </a:xfrm>
          <a:custGeom>
            <a:avLst/>
            <a:gdLst/>
            <a:ahLst/>
            <a:cxnLst/>
            <a:rect l="l" t="t" r="r" b="b"/>
            <a:pathLst>
              <a:path w="9144000" h="5148966">
                <a:moveTo>
                  <a:pt x="0" y="0"/>
                </a:moveTo>
                <a:lnTo>
                  <a:pt x="9144000" y="0"/>
                </a:lnTo>
                <a:lnTo>
                  <a:pt x="9144000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9570574" y="5990729"/>
            <a:ext cx="1968804" cy="3017228"/>
          </a:xfrm>
          <a:custGeom>
            <a:avLst/>
            <a:gdLst/>
            <a:ahLst/>
            <a:cxnLst/>
            <a:rect l="l" t="t" r="r" b="b"/>
            <a:pathLst>
              <a:path w="1968804" h="3017228">
                <a:moveTo>
                  <a:pt x="0" y="0"/>
                </a:moveTo>
                <a:lnTo>
                  <a:pt x="1968804" y="0"/>
                </a:lnTo>
                <a:lnTo>
                  <a:pt x="1968804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2184708" y="5990729"/>
            <a:ext cx="1531292" cy="3443576"/>
          </a:xfrm>
          <a:custGeom>
            <a:avLst/>
            <a:gdLst/>
            <a:ahLst/>
            <a:cxnLst/>
            <a:rect l="l" t="t" r="r" b="b"/>
            <a:pathLst>
              <a:path w="1531292" h="3443576">
                <a:moveTo>
                  <a:pt x="0" y="0"/>
                </a:moveTo>
                <a:lnTo>
                  <a:pt x="1531292" y="0"/>
                </a:lnTo>
                <a:lnTo>
                  <a:pt x="1531292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3716000" y="5564382"/>
            <a:ext cx="1093780" cy="3224936"/>
          </a:xfrm>
          <a:custGeom>
            <a:avLst/>
            <a:gdLst/>
            <a:ahLst/>
            <a:cxnLst/>
            <a:rect l="l" t="t" r="r" b="b"/>
            <a:pathLst>
              <a:path w="1093780" h="3224936">
                <a:moveTo>
                  <a:pt x="0" y="0"/>
                </a:moveTo>
                <a:lnTo>
                  <a:pt x="1093780" y="0"/>
                </a:lnTo>
                <a:lnTo>
                  <a:pt x="109378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4798842" y="6428009"/>
            <a:ext cx="1968804" cy="2787657"/>
          </a:xfrm>
          <a:custGeom>
            <a:avLst/>
            <a:gdLst/>
            <a:ahLst/>
            <a:cxnLst/>
            <a:rect l="l" t="t" r="r" b="b"/>
            <a:pathLst>
              <a:path w="1968804" h="2787657">
                <a:moveTo>
                  <a:pt x="0" y="0"/>
                </a:moveTo>
                <a:lnTo>
                  <a:pt x="1968804" y="0"/>
                </a:lnTo>
                <a:lnTo>
                  <a:pt x="1968804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6537952" y="5564382"/>
            <a:ext cx="1542230" cy="3651284"/>
          </a:xfrm>
          <a:custGeom>
            <a:avLst/>
            <a:gdLst/>
            <a:ahLst/>
            <a:cxnLst/>
            <a:rect l="l" t="t" r="r" b="b"/>
            <a:pathLst>
              <a:path w="1542230" h="3651284">
                <a:moveTo>
                  <a:pt x="0" y="0"/>
                </a:moveTo>
                <a:lnTo>
                  <a:pt x="1542230" y="0"/>
                </a:lnTo>
                <a:lnTo>
                  <a:pt x="1542230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1101866" y="6635716"/>
            <a:ext cx="1531292" cy="2798589"/>
          </a:xfrm>
          <a:custGeom>
            <a:avLst/>
            <a:gdLst/>
            <a:ahLst/>
            <a:cxnLst/>
            <a:rect l="l" t="t" r="r" b="b"/>
            <a:pathLst>
              <a:path w="1531292" h="2798589">
                <a:moveTo>
                  <a:pt x="0" y="0"/>
                </a:moveTo>
                <a:lnTo>
                  <a:pt x="1531292" y="0"/>
                </a:lnTo>
                <a:lnTo>
                  <a:pt x="1531292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9351818" y="8352038"/>
            <a:ext cx="1760986" cy="1082267"/>
          </a:xfrm>
          <a:custGeom>
            <a:avLst/>
            <a:gdLst/>
            <a:ahLst/>
            <a:cxnLst/>
            <a:rect l="l" t="t" r="r" b="b"/>
            <a:pathLst>
              <a:path w="1760986" h="1082267">
                <a:moveTo>
                  <a:pt x="0" y="0"/>
                </a:moveTo>
                <a:lnTo>
                  <a:pt x="1760986" y="0"/>
                </a:lnTo>
                <a:lnTo>
                  <a:pt x="176098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3278488" y="835203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5455110" y="7499343"/>
            <a:ext cx="1750048" cy="2153601"/>
          </a:xfrm>
          <a:custGeom>
            <a:avLst/>
            <a:gdLst/>
            <a:ahLst/>
            <a:cxnLst/>
            <a:rect l="l" t="t" r="r" b="b"/>
            <a:pathLst>
              <a:path w="1750048" h="2153601">
                <a:moveTo>
                  <a:pt x="0" y="0"/>
                </a:moveTo>
                <a:lnTo>
                  <a:pt x="1750048" y="0"/>
                </a:lnTo>
                <a:lnTo>
                  <a:pt x="1750048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2962656" y="4007608"/>
            <a:ext cx="621792" cy="66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3679" b="1">
                <a:solidFill>
                  <a:srgbClr val="332257"/>
                </a:solidFill>
                <a:latin typeface="Poppins Bold"/>
                <a:ea typeface="Poppins Bold"/>
                <a:cs typeface="Poppins Bold"/>
                <a:sym typeface="Poppins Bold"/>
              </a:rPr>
              <a:t>50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749040" y="4155978"/>
            <a:ext cx="3712464" cy="41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342" b="1">
                <a:solidFill>
                  <a:srgbClr val="332257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productos registrados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962656" y="6725396"/>
            <a:ext cx="4457319" cy="33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8"/>
              </a:lnSpc>
            </a:pPr>
            <a:r>
              <a:rPr lang="en-US" sz="1906" b="1">
                <a:solidFill>
                  <a:srgbClr val="E1D8E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Productos alimenticios destacados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962656" y="7134599"/>
            <a:ext cx="4937760" cy="122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20"/>
              </a:lnSpc>
            </a:pPr>
            <a:r>
              <a:rPr lang="en-US" sz="1729" b="1">
                <a:solidFill>
                  <a:srgbClr val="E1D8E8"/>
                </a:solidFill>
                <a:latin typeface="Poppins Bold"/>
                <a:ea typeface="Poppins Bold"/>
                <a:cs typeface="Poppins Bold"/>
                <a:sym typeface="Poppins Bold"/>
              </a:rPr>
              <a:t>galletas integrales, café soluble, salsas   atún, aceite, cereal, leche en polvo, frijoles pasta</a:t>
            </a:r>
          </a:p>
          <a:p>
            <a:pPr algn="just">
              <a:lnSpc>
                <a:spcPts val="2420"/>
              </a:lnSpc>
            </a:pPr>
            <a:endParaRPr lang="en-US" sz="1729" b="1">
              <a:solidFill>
                <a:srgbClr val="E1D8E8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2187560" cy="10287000"/>
          </a:xfrm>
          <a:custGeom>
            <a:avLst/>
            <a:gdLst/>
            <a:ahLst/>
            <a:cxnLst/>
            <a:rect l="l" t="t" r="r" b="b"/>
            <a:pathLst>
              <a:path w="2187560" h="10287000">
                <a:moveTo>
                  <a:pt x="0" y="0"/>
                </a:moveTo>
                <a:lnTo>
                  <a:pt x="2187560" y="0"/>
                </a:lnTo>
                <a:lnTo>
                  <a:pt x="21875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6209369"/>
            <a:ext cx="2395378" cy="4077631"/>
          </a:xfrm>
          <a:custGeom>
            <a:avLst/>
            <a:gdLst/>
            <a:ahLst/>
            <a:cxnLst/>
            <a:rect l="l" t="t" r="r" b="b"/>
            <a:pathLst>
              <a:path w="2395378" h="4077631">
                <a:moveTo>
                  <a:pt x="0" y="0"/>
                </a:moveTo>
                <a:lnTo>
                  <a:pt x="2395378" y="0"/>
                </a:lnTo>
                <a:lnTo>
                  <a:pt x="2395378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603196" y="1705390"/>
            <a:ext cx="1323474" cy="229572"/>
          </a:xfrm>
          <a:custGeom>
            <a:avLst/>
            <a:gdLst/>
            <a:ahLst/>
            <a:cxnLst/>
            <a:rect l="l" t="t" r="r" b="b"/>
            <a:pathLst>
              <a:path w="1323474" h="229572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603196" y="3214004"/>
            <a:ext cx="3062584" cy="2153601"/>
          </a:xfrm>
          <a:custGeom>
            <a:avLst/>
            <a:gdLst/>
            <a:ahLst/>
            <a:cxnLst/>
            <a:rect l="l" t="t" r="r" b="b"/>
            <a:pathLst>
              <a:path w="3062584" h="2153601">
                <a:moveTo>
                  <a:pt x="0" y="0"/>
                </a:moveTo>
                <a:lnTo>
                  <a:pt x="3062584" y="0"/>
                </a:lnTo>
                <a:lnTo>
                  <a:pt x="306258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603196" y="5356674"/>
            <a:ext cx="3062584" cy="2153601"/>
          </a:xfrm>
          <a:custGeom>
            <a:avLst/>
            <a:gdLst/>
            <a:ahLst/>
            <a:cxnLst/>
            <a:rect l="l" t="t" r="r" b="b"/>
            <a:pathLst>
              <a:path w="3062584" h="2153601">
                <a:moveTo>
                  <a:pt x="0" y="0"/>
                </a:moveTo>
                <a:lnTo>
                  <a:pt x="3062584" y="0"/>
                </a:lnTo>
                <a:lnTo>
                  <a:pt x="306258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603196" y="7499343"/>
            <a:ext cx="6332986" cy="2153601"/>
          </a:xfrm>
          <a:custGeom>
            <a:avLst/>
            <a:gdLst/>
            <a:ahLst/>
            <a:cxnLst/>
            <a:rect l="l" t="t" r="r" b="b"/>
            <a:pathLst>
              <a:path w="6332986" h="2153601">
                <a:moveTo>
                  <a:pt x="0" y="0"/>
                </a:moveTo>
                <a:lnTo>
                  <a:pt x="6332986" y="0"/>
                </a:lnTo>
                <a:lnTo>
                  <a:pt x="633298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873598" y="3214004"/>
            <a:ext cx="3062584" cy="2153601"/>
          </a:xfrm>
          <a:custGeom>
            <a:avLst/>
            <a:gdLst/>
            <a:ahLst/>
            <a:cxnLst/>
            <a:rect l="l" t="t" r="r" b="b"/>
            <a:pathLst>
              <a:path w="3062584" h="2153601">
                <a:moveTo>
                  <a:pt x="0" y="0"/>
                </a:moveTo>
                <a:lnTo>
                  <a:pt x="3062584" y="0"/>
                </a:lnTo>
                <a:lnTo>
                  <a:pt x="306258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873598" y="5356674"/>
            <a:ext cx="3062584" cy="2153601"/>
          </a:xfrm>
          <a:custGeom>
            <a:avLst/>
            <a:gdLst/>
            <a:ahLst/>
            <a:cxnLst/>
            <a:rect l="l" t="t" r="r" b="b"/>
            <a:pathLst>
              <a:path w="3062584" h="2153601">
                <a:moveTo>
                  <a:pt x="0" y="0"/>
                </a:moveTo>
                <a:lnTo>
                  <a:pt x="3062584" y="0"/>
                </a:lnTo>
                <a:lnTo>
                  <a:pt x="306258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396524" y="6560136"/>
            <a:ext cx="2681493" cy="3376097"/>
          </a:xfrm>
          <a:custGeom>
            <a:avLst/>
            <a:gdLst/>
            <a:ahLst/>
            <a:cxnLst/>
            <a:rect l="l" t="t" r="r" b="b"/>
            <a:pathLst>
              <a:path w="2681493" h="3376097">
                <a:moveTo>
                  <a:pt x="0" y="0"/>
                </a:moveTo>
                <a:lnTo>
                  <a:pt x="2681494" y="0"/>
                </a:lnTo>
                <a:lnTo>
                  <a:pt x="2681494" y="3376097"/>
                </a:lnTo>
                <a:lnTo>
                  <a:pt x="0" y="337609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66724" t="-25150" r="-12350" b="-2262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972044" y="1934962"/>
            <a:ext cx="7627945" cy="7426357"/>
          </a:xfrm>
          <a:custGeom>
            <a:avLst/>
            <a:gdLst/>
            <a:ahLst/>
            <a:cxnLst/>
            <a:rect l="l" t="t" r="r" b="b"/>
            <a:pathLst>
              <a:path w="7627945" h="7426357">
                <a:moveTo>
                  <a:pt x="0" y="0"/>
                </a:moveTo>
                <a:lnTo>
                  <a:pt x="7627945" y="0"/>
                </a:lnTo>
                <a:lnTo>
                  <a:pt x="7627945" y="7426356"/>
                </a:lnTo>
                <a:lnTo>
                  <a:pt x="0" y="74263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r="-67161" b="-14465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743200" y="744486"/>
            <a:ext cx="4864608" cy="943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6642" b="1">
                <a:solidFill>
                  <a:srgbClr val="302357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98064" y="2174387"/>
            <a:ext cx="4279392" cy="70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1972">
                <a:solidFill>
                  <a:srgbClr val="302357"/>
                </a:solidFill>
                <a:latin typeface="Poppins"/>
                <a:ea typeface="Poppins"/>
                <a:cs typeface="Poppins"/>
                <a:sym typeface="Poppins"/>
              </a:rPr>
              <a:t>Indicadores clave de la operación de importación desde México.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54096" y="3515359"/>
            <a:ext cx="1883664" cy="595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1836" b="1">
                <a:solidFill>
                  <a:srgbClr val="302357"/>
                </a:solidFill>
                <a:latin typeface="Poppins Bold"/>
                <a:ea typeface="Poppins Bold"/>
                <a:cs typeface="Poppins Bold"/>
                <a:sym typeface="Poppins Bold"/>
              </a:rPr>
              <a:t>Importe total de la operación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27480" y="4429894"/>
            <a:ext cx="2414016" cy="550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3"/>
              </a:lnSpc>
            </a:pPr>
            <a:r>
              <a:rPr lang="en-US" sz="3303" b="1">
                <a:solidFill>
                  <a:srgbClr val="A88EC0"/>
                </a:solidFill>
                <a:latin typeface="Poppins Bold"/>
                <a:ea typeface="Poppins Bold"/>
                <a:cs typeface="Poppins Bold"/>
                <a:sym typeface="Poppins Bold"/>
              </a:rPr>
              <a:t>$40,359.00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54096" y="5808706"/>
            <a:ext cx="1865376" cy="574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sz="1738" b="1">
                <a:solidFill>
                  <a:srgbClr val="302357"/>
                </a:solidFill>
                <a:latin typeface="Poppins Bold"/>
                <a:ea typeface="Poppins Bold"/>
                <a:cs typeface="Poppins Bold"/>
                <a:sym typeface="Poppins Bold"/>
              </a:rPr>
              <a:t>Precio promedio por producto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54096" y="6558351"/>
            <a:ext cx="1225296" cy="61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sz="3585" b="1">
                <a:solidFill>
                  <a:srgbClr val="A88EC0"/>
                </a:solidFill>
                <a:latin typeface="Poppins Bold"/>
                <a:ea typeface="Poppins Bold"/>
                <a:cs typeface="Poppins Bold"/>
                <a:sym typeface="Poppins Bold"/>
              </a:rPr>
              <a:t>$7.74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54096" y="7794205"/>
            <a:ext cx="3694176" cy="647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1940" b="1">
                <a:solidFill>
                  <a:srgbClr val="302357"/>
                </a:solidFill>
                <a:latin typeface="Poppins Bold"/>
                <a:ea typeface="Poppins Bold"/>
                <a:cs typeface="Poppins Bold"/>
                <a:sym typeface="Poppins Bold"/>
              </a:rPr>
              <a:t>Importe de productos originarios de México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54096" y="8587485"/>
            <a:ext cx="2926080" cy="731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1"/>
              </a:lnSpc>
            </a:pPr>
            <a:r>
              <a:rPr lang="en-US" sz="4262" b="1">
                <a:solidFill>
                  <a:srgbClr val="A88EC0"/>
                </a:solidFill>
                <a:latin typeface="Poppins Bold"/>
                <a:ea typeface="Poppins Bold"/>
                <a:cs typeface="Poppins Bold"/>
                <a:sym typeface="Poppins Bold"/>
              </a:rPr>
              <a:t>$36,919.50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54496" y="3452850"/>
            <a:ext cx="2359152" cy="59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1819" b="1">
                <a:solidFill>
                  <a:srgbClr val="302357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Producto con mayor importe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54496" y="4196428"/>
            <a:ext cx="1975104" cy="937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5"/>
              </a:lnSpc>
            </a:pPr>
            <a:r>
              <a:rPr lang="en-US" sz="3232" b="1">
                <a:solidFill>
                  <a:srgbClr val="A88EC0"/>
                </a:solidFill>
                <a:latin typeface="Poppins Bold"/>
                <a:ea typeface="Poppins Bold"/>
                <a:cs typeface="Poppins Bold"/>
                <a:sym typeface="Poppins Bold"/>
              </a:rPr>
              <a:t>Mochilas $1,912.50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54496" y="5779809"/>
            <a:ext cx="1298448" cy="57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706" b="1">
                <a:solidFill>
                  <a:srgbClr val="302357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Productos registrados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54496" y="6543958"/>
            <a:ext cx="676656" cy="63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3"/>
              </a:lnSpc>
            </a:pPr>
            <a:r>
              <a:rPr lang="en-US" sz="3679" b="1">
                <a:solidFill>
                  <a:srgbClr val="A88EC0"/>
                </a:solidFill>
                <a:latin typeface="Poppins Bold"/>
                <a:ea typeface="Poppins Bold"/>
                <a:cs typeface="Poppins Bold"/>
                <a:sym typeface="Poppins Bold"/>
              </a:rPr>
              <a:t>50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69264" y="2034219"/>
            <a:ext cx="4718304" cy="33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875" b="1">
                <a:solidFill>
                  <a:srgbClr val="302357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Distribución del importe por categoría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2187560" cy="10287000"/>
          </a:xfrm>
          <a:custGeom>
            <a:avLst/>
            <a:gdLst/>
            <a:ahLst/>
            <a:cxnLst/>
            <a:rect l="l" t="t" r="r" b="b"/>
            <a:pathLst>
              <a:path w="2187560" h="10287000">
                <a:moveTo>
                  <a:pt x="0" y="0"/>
                </a:moveTo>
                <a:lnTo>
                  <a:pt x="2187560" y="0"/>
                </a:lnTo>
                <a:lnTo>
                  <a:pt x="21875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6209369"/>
            <a:ext cx="2614134" cy="3869923"/>
          </a:xfrm>
          <a:custGeom>
            <a:avLst/>
            <a:gdLst/>
            <a:ahLst/>
            <a:cxnLst/>
            <a:rect l="l" t="t" r="r" b="b"/>
            <a:pathLst>
              <a:path w="2614134" h="3869923">
                <a:moveTo>
                  <a:pt x="0" y="0"/>
                </a:moveTo>
                <a:lnTo>
                  <a:pt x="2614134" y="0"/>
                </a:lnTo>
                <a:lnTo>
                  <a:pt x="261413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706624" y="357765"/>
            <a:ext cx="5870448" cy="1286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32"/>
              </a:lnSpc>
            </a:pPr>
            <a:r>
              <a:rPr lang="en-US" sz="7094" b="1" spc="-283">
                <a:solidFill>
                  <a:srgbClr val="332C5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Conclusiones</a:t>
            </a:r>
          </a:p>
        </p:txBody>
      </p:sp>
      <p:sp>
        <p:nvSpPr>
          <p:cNvPr id="6" name="Freeform 6"/>
          <p:cNvSpPr/>
          <p:nvPr/>
        </p:nvSpPr>
        <p:spPr>
          <a:xfrm>
            <a:off x="2603196" y="1705390"/>
            <a:ext cx="1323474" cy="229572"/>
          </a:xfrm>
          <a:custGeom>
            <a:avLst/>
            <a:gdLst/>
            <a:ahLst/>
            <a:cxnLst/>
            <a:rect l="l" t="t" r="r" b="b"/>
            <a:pathLst>
              <a:path w="1323474" h="229572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176622" y="1924030"/>
            <a:ext cx="7623646" cy="3006296"/>
          </a:xfrm>
          <a:custGeom>
            <a:avLst/>
            <a:gdLst/>
            <a:ahLst/>
            <a:cxnLst/>
            <a:rect l="l" t="t" r="r" b="b"/>
            <a:pathLst>
              <a:path w="7623646" h="3006296">
                <a:moveTo>
                  <a:pt x="0" y="0"/>
                </a:moveTo>
                <a:lnTo>
                  <a:pt x="7623646" y="0"/>
                </a:lnTo>
                <a:lnTo>
                  <a:pt x="7623646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603196" y="2142670"/>
            <a:ext cx="1542230" cy="2153601"/>
          </a:xfrm>
          <a:custGeom>
            <a:avLst/>
            <a:gdLst/>
            <a:ahLst/>
            <a:cxnLst/>
            <a:rect l="l" t="t" r="r" b="b"/>
            <a:pathLst>
              <a:path w="1542230" h="2153601">
                <a:moveTo>
                  <a:pt x="0" y="0"/>
                </a:moveTo>
                <a:lnTo>
                  <a:pt x="1542230" y="0"/>
                </a:lnTo>
                <a:lnTo>
                  <a:pt x="154223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00400" y="2382279"/>
            <a:ext cx="420624" cy="1436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73"/>
              </a:lnSpc>
            </a:pPr>
            <a:r>
              <a:rPr lang="en-US" sz="7980" b="1">
                <a:solidFill>
                  <a:srgbClr val="C7C1E1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25696" y="2387149"/>
            <a:ext cx="4389120" cy="2030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819">
                <a:solidFill>
                  <a:srgbClr val="332C50"/>
                </a:solidFill>
                <a:latin typeface="Poppins"/>
                <a:ea typeface="Poppins"/>
                <a:cs typeface="Poppins"/>
                <a:sym typeface="Poppins"/>
              </a:rPr>
              <a:t>La operación de importación alcanza un total de $40,359.00, con las Mochilas como producto de mayor impacto financiero ($1,912.50) y la mayoría del importe correspondiente a productos de México ($36,919.50).</a:t>
            </a:r>
          </a:p>
        </p:txBody>
      </p:sp>
      <p:sp>
        <p:nvSpPr>
          <p:cNvPr id="11" name="Freeform 11"/>
          <p:cNvSpPr/>
          <p:nvPr/>
        </p:nvSpPr>
        <p:spPr>
          <a:xfrm>
            <a:off x="2176622" y="4711687"/>
            <a:ext cx="7623646" cy="2579949"/>
          </a:xfrm>
          <a:custGeom>
            <a:avLst/>
            <a:gdLst/>
            <a:ahLst/>
            <a:cxnLst/>
            <a:rect l="l" t="t" r="r" b="b"/>
            <a:pathLst>
              <a:path w="7623646" h="2579949">
                <a:moveTo>
                  <a:pt x="0" y="0"/>
                </a:moveTo>
                <a:lnTo>
                  <a:pt x="7623646" y="0"/>
                </a:lnTo>
                <a:lnTo>
                  <a:pt x="7623646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603196" y="4919394"/>
            <a:ext cx="1542230" cy="1945894"/>
          </a:xfrm>
          <a:custGeom>
            <a:avLst/>
            <a:gdLst/>
            <a:ahLst/>
            <a:cxnLst/>
            <a:rect l="l" t="t" r="r" b="b"/>
            <a:pathLst>
              <a:path w="1542230" h="1945894">
                <a:moveTo>
                  <a:pt x="0" y="0"/>
                </a:moveTo>
                <a:lnTo>
                  <a:pt x="1542230" y="0"/>
                </a:lnTo>
                <a:lnTo>
                  <a:pt x="154223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145536" y="5087760"/>
            <a:ext cx="585216" cy="1436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73"/>
              </a:lnSpc>
            </a:pPr>
            <a:r>
              <a:rPr lang="en-US" sz="7980" b="1">
                <a:solidFill>
                  <a:srgbClr val="332C5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25696" y="5179855"/>
            <a:ext cx="4937760" cy="1640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</a:pPr>
            <a:r>
              <a:rPr lang="en-US" sz="1738">
                <a:solidFill>
                  <a:srgbClr val="332C50"/>
                </a:solidFill>
                <a:latin typeface="Poppins"/>
                <a:ea typeface="Poppins"/>
                <a:cs typeface="Poppins"/>
                <a:sym typeface="Poppins"/>
              </a:rPr>
              <a:t>Evaluar la información antes de la operación permite planificar el presupuesto, identificar productos con mayor impacto financiero y minimizar riesgos antes de realizar pagos internacionales.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2176622" y="7062064"/>
            <a:ext cx="7623646" cy="2798589"/>
          </a:xfrm>
          <a:custGeom>
            <a:avLst/>
            <a:gdLst/>
            <a:ahLst/>
            <a:cxnLst/>
            <a:rect l="l" t="t" r="r" b="b"/>
            <a:pathLst>
              <a:path w="7623646" h="2798589">
                <a:moveTo>
                  <a:pt x="0" y="0"/>
                </a:moveTo>
                <a:lnTo>
                  <a:pt x="7623646" y="0"/>
                </a:lnTo>
                <a:lnTo>
                  <a:pt x="7623646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603196" y="7499343"/>
            <a:ext cx="1542230" cy="1934962"/>
          </a:xfrm>
          <a:custGeom>
            <a:avLst/>
            <a:gdLst/>
            <a:ahLst/>
            <a:cxnLst/>
            <a:rect l="l" t="t" r="r" b="b"/>
            <a:pathLst>
              <a:path w="1542230" h="1934962">
                <a:moveTo>
                  <a:pt x="0" y="0"/>
                </a:moveTo>
                <a:lnTo>
                  <a:pt x="1542230" y="0"/>
                </a:lnTo>
                <a:lnTo>
                  <a:pt x="154223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145536" y="7628649"/>
            <a:ext cx="585216" cy="1436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73"/>
              </a:lnSpc>
            </a:pPr>
            <a:r>
              <a:rPr lang="en-US" sz="7980" b="1">
                <a:solidFill>
                  <a:srgbClr val="332C5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25696" y="7602211"/>
            <a:ext cx="4718304" cy="1806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1940">
                <a:solidFill>
                  <a:srgbClr val="332C50"/>
                </a:solidFill>
                <a:latin typeface="Poppins"/>
                <a:ea typeface="Poppins"/>
                <a:cs typeface="Poppins"/>
                <a:sym typeface="Poppins"/>
              </a:rPr>
              <a:t>Contar con una gestión digital facilita ordenar y actualizar los 50 registros, comparar categorías, detectar importes altos y apoyar decisiones comerciales ágiles y confiables.</a:t>
            </a:r>
          </a:p>
        </p:txBody>
      </p:sp>
      <p:sp>
        <p:nvSpPr>
          <p:cNvPr id="19" name="Freeform 19"/>
          <p:cNvSpPr/>
          <p:nvPr/>
        </p:nvSpPr>
        <p:spPr>
          <a:xfrm>
            <a:off x="9789330" y="852695"/>
            <a:ext cx="8498670" cy="9434305"/>
          </a:xfrm>
          <a:custGeom>
            <a:avLst/>
            <a:gdLst/>
            <a:ahLst/>
            <a:cxnLst/>
            <a:rect l="l" t="t" r="r" b="b"/>
            <a:pathLst>
              <a:path w="8498670" h="9434305">
                <a:moveTo>
                  <a:pt x="0" y="0"/>
                </a:moveTo>
                <a:lnTo>
                  <a:pt x="8498670" y="0"/>
                </a:lnTo>
                <a:lnTo>
                  <a:pt x="8498670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Resultados_Importación_México</dc:title>
  <cp:lastModifiedBy>cristianvaleryvargasgaytan@gmail.com</cp:lastModifiedBy>
  <cp:revision>2</cp:revision>
  <dcterms:created xsi:type="dcterms:W3CDTF">2006-08-16T00:00:00Z</dcterms:created>
  <dcterms:modified xsi:type="dcterms:W3CDTF">2026-09-21T01:18:09Z</dcterms:modified>
  <dc:identifier>DAHVx4TS8Wc</dc:identifier>
</cp:coreProperties>
</file>